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359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C0D1C8-90E8-ECEB-D7E4-7FA782AC5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B5328BE-F43A-D54F-6F27-DDA4CFD0B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8940A1-FEFB-D4D5-C58D-FDA9829C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DFFC-E21F-4A97-A222-186BBE324C2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AD2762-9585-B773-614B-B40D4D177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92CE94-00BA-A7F1-0AFF-0BFE2BDD6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2D4C-9168-4EA3-81A9-27862A11CE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199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D124DB-B572-211B-010C-0A7BB0ED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849036-FFC6-DA28-3833-491225072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5A31F4-4FA2-1780-CCDF-CE5A72976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DFFC-E21F-4A97-A222-186BBE324C2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07734B-8030-EE89-652F-57C5F5562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3704B4-762E-DE25-41A5-AB558FE00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2D4C-9168-4EA3-81A9-27862A11CE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9759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A4064D-35E0-30CB-F924-DC31A67F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51A5626-A2D4-2231-AA87-29777EF3D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A25455-7BED-F972-493F-7B119B563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DFFC-E21F-4A97-A222-186BBE324C2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3BB319-88FC-7911-8E63-04CA0102A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C793D7-9741-1530-BCDD-5189F61B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2D4C-9168-4EA3-81A9-27862A11CE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60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889F01-20C2-A9B0-3BC0-5391D3DB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F96D33-DD61-6755-C6C7-92A0210E1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A7D1A59-2828-D8E0-5FA1-A2D382A73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FC532FA-1B2C-5171-E40B-395EFB6E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DFFC-E21F-4A97-A222-186BBE324C2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85F3D48-D6A4-F00C-7C39-98B72B69F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F742B8-8E45-30A3-8642-B0AA7A1A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2D4C-9168-4EA3-81A9-27862A11CE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399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11820D-BEDE-EFDA-6509-691C8D33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DD0B24-6E80-AFFA-05B9-E82921605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AAA2FF3-0A91-5695-B849-BFA74DC7B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DB7534D-2B46-CB08-FE37-69F03DE49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ADF88D3-3E4F-92D3-7A6A-27D51F25C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4230B52-1F21-5592-1E64-EAE1AF90F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DFFC-E21F-4A97-A222-186BBE324C2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C2A9641-9282-5B62-BE07-1D8C1AB64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4FB0422-6454-27ED-9577-DB56C7EB0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2D4C-9168-4EA3-81A9-27862A11CE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7134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BD63FE-B2E5-843F-947B-0EA118F4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EAEC52B-023A-D7AA-5D53-C878E1E3D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DFFC-E21F-4A97-A222-186BBE324C2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76BB38A-480C-CED5-F701-63E408F12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82A465F-23D5-0CED-5ED0-EE3163869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2D4C-9168-4EA3-81A9-27862A11CE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4933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C2FF80C-F5F7-6EA7-AAB4-0050BC6F3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DFFC-E21F-4A97-A222-186BBE324C2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D7F6F4C-0373-021C-E2AF-4781EDC96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94F75A-9ABA-80FB-DF52-BB935A8E6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2D4C-9168-4EA3-81A9-27862A11CE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4787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144A2C-06AC-FF2A-2525-E879825E5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F9B303-A083-8FC7-B180-E51071B35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5FEBB7E-FE82-0F15-E203-1302D8A10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2C837C-370C-D874-8492-89CFAC51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DFFC-E21F-4A97-A222-186BBE324C2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A1354FF-4672-4192-8674-7A14C976E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F258F9-1CEA-6856-02A2-FBF1AC142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2D4C-9168-4EA3-81A9-27862A11CE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7944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7AF4D8-E51C-6E58-E8BF-F81D59AF3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172AB60-2FAD-BA2A-C334-7EDBB458A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E42D68D-21F9-69EB-3962-8539B121C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B4C2A99-F25F-076B-7512-02EC911AD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DFFC-E21F-4A97-A222-186BBE324C2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AFDB182-1BF2-03C8-D835-CB3F635E7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E7CF85-0DD5-A7FF-FECB-8C2CFBC1C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2D4C-9168-4EA3-81A9-27862A11CE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319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FD4149-606E-5C2D-75E2-8FB888EBB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DDA9669-E113-0CD9-CAFA-9CB407FC6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30D81A-B068-D484-9FFD-D631ADF2F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DFFC-E21F-4A97-A222-186BBE324C2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88FCC8-E0A3-FA7E-6EF8-3FCEE01D7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08B730-F9E0-0F1E-C7DF-1E97EE86E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2D4C-9168-4EA3-81A9-27862A11CE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3663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E15D6F4-4A1A-D7A1-9E57-8A1B4B8CA8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E26B16F-C555-DA33-24E9-074035F9A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4CFFA0-6EAB-1617-0476-3A0A271D2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DFFC-E21F-4A97-A222-186BBE324C2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C8A1ED-9AE9-24C0-4261-0619AB97A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9499DE-64D6-AA86-4842-BDDD7EA1C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82D4C-9168-4EA3-81A9-27862A11CE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236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- FOND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04812" y="1327150"/>
            <a:ext cx="11379201" cy="51426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06B5C2B-B0BF-4136-9EC7-0E7F54D1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2" name="Rectangle 27">
            <a:extLst>
              <a:ext uri="{FF2B5EF4-FFF2-40B4-BE49-F238E27FC236}">
                <a16:creationId xmlns:a16="http://schemas.microsoft.com/office/drawing/2014/main" id="{B84DE3C0-37CC-9B35-DFBF-22451390F4EF}"/>
              </a:ext>
            </a:extLst>
          </p:cNvPr>
          <p:cNvSpPr/>
          <p:nvPr userDrawn="1"/>
        </p:nvSpPr>
        <p:spPr>
          <a:xfrm>
            <a:off x="722707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Company Confidential © Capgemini 2025. All rights reserved  |</a:t>
            </a:r>
          </a:p>
        </p:txBody>
      </p:sp>
      <p:pic>
        <p:nvPicPr>
          <p:cNvPr id="9" name="Image 9">
            <a:extLst>
              <a:ext uri="{FF2B5EF4-FFF2-40B4-BE49-F238E27FC236}">
                <a16:creationId xmlns:a16="http://schemas.microsoft.com/office/drawing/2014/main" id="{E2FBCAD5-2A6F-1F71-6DB9-2936CCF06A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2170" t="914" r="47551" b="-914"/>
          <a:stretch/>
        </p:blipFill>
        <p:spPr>
          <a:xfrm>
            <a:off x="10122138" y="316765"/>
            <a:ext cx="1046273" cy="25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12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C730037-A082-8ADE-E7B4-7A1F0399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9FE80B-7C59-D2C5-87BE-0D5CDB4D7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18094C-A4B3-30D1-8AFF-FD2F792989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7DFFC-E21F-4A97-A222-186BBE324C2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E1391E-86AB-3154-CF55-BB865B72E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5032C6-254D-B2E5-FD0E-9E56F1E69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982D4C-9168-4EA3-81A9-27862A11CE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1490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aws.amazon.com/marketplace/pp/prodview-hikicsfohm3gg" TargetMode="External"/><Relationship Id="rId3" Type="http://schemas.openxmlformats.org/officeDocument/2006/relationships/image" Target="../media/image3.svg"/><Relationship Id="rId7" Type="http://schemas.openxmlformats.org/officeDocument/2006/relationships/hyperlink" Target="https://aws.amazon.com/marketplace/pp/prodview-4uvx2bwq2o5t2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hyperlink" Target="https://aws.amazon.com/marketplace/pp/prodview-6gqg3yc2e2rs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Image 132">
            <a:extLst>
              <a:ext uri="{FF2B5EF4-FFF2-40B4-BE49-F238E27FC236}">
                <a16:creationId xmlns:a16="http://schemas.microsoft.com/office/drawing/2014/main" id="{FB6E434C-099C-9B35-0213-81E23CCC2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2"/>
          <a:stretch>
            <a:fillRect/>
          </a:stretch>
        </p:blipFill>
        <p:spPr>
          <a:xfrm>
            <a:off x="7898231" y="1417520"/>
            <a:ext cx="4217694" cy="2891367"/>
          </a:xfrm>
          <a:prstGeom prst="rect">
            <a:avLst/>
          </a:prstGeom>
        </p:spPr>
      </p:pic>
      <p:sp>
        <p:nvSpPr>
          <p:cNvPr id="4" name="AccentBar">
            <a:extLst>
              <a:ext uri="{FF2B5EF4-FFF2-40B4-BE49-F238E27FC236}">
                <a16:creationId xmlns:a16="http://schemas.microsoft.com/office/drawing/2014/main" id="{08E9B24A-43B1-4D89-90E4-E0F379CEE266}"/>
              </a:ext>
            </a:extLst>
          </p:cNvPr>
          <p:cNvSpPr/>
          <p:nvPr/>
        </p:nvSpPr>
        <p:spPr>
          <a:xfrm>
            <a:off x="381000" y="152400"/>
            <a:ext cx="63500" cy="381000"/>
          </a:xfrm>
          <a:prstGeom prst="rect">
            <a:avLst/>
          </a:prstGeom>
          <a:solidFill>
            <a:srgbClr val="0070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5" name="OverviewCard">
            <a:extLst>
              <a:ext uri="{FF2B5EF4-FFF2-40B4-BE49-F238E27FC236}">
                <a16:creationId xmlns:a16="http://schemas.microsoft.com/office/drawing/2014/main" id="{36209420-52A7-4DC7-9F80-25C1F45B1799}"/>
              </a:ext>
            </a:extLst>
          </p:cNvPr>
          <p:cNvSpPr/>
          <p:nvPr/>
        </p:nvSpPr>
        <p:spPr>
          <a:xfrm>
            <a:off x="381000" y="609600"/>
            <a:ext cx="11430000" cy="6096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4E7E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7" name="ChallengeCard">
            <a:extLst>
              <a:ext uri="{FF2B5EF4-FFF2-40B4-BE49-F238E27FC236}">
                <a16:creationId xmlns:a16="http://schemas.microsoft.com/office/drawing/2014/main" id="{8EDDE19A-8615-4E1A-BE9E-3E40A95E8BF5}"/>
              </a:ext>
            </a:extLst>
          </p:cNvPr>
          <p:cNvSpPr/>
          <p:nvPr/>
        </p:nvSpPr>
        <p:spPr>
          <a:xfrm>
            <a:off x="381000" y="1615110"/>
            <a:ext cx="3670300" cy="21336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4E7E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8" name="SolutionCard">
            <a:extLst>
              <a:ext uri="{FF2B5EF4-FFF2-40B4-BE49-F238E27FC236}">
                <a16:creationId xmlns:a16="http://schemas.microsoft.com/office/drawing/2014/main" id="{23AE2BFC-A7D2-4E61-A5BB-2A8673EE0A5D}"/>
              </a:ext>
            </a:extLst>
          </p:cNvPr>
          <p:cNvSpPr/>
          <p:nvPr/>
        </p:nvSpPr>
        <p:spPr>
          <a:xfrm>
            <a:off x="4254500" y="1615110"/>
            <a:ext cx="3670300" cy="21336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4E7E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0" name="stripChallenge">
            <a:extLst>
              <a:ext uri="{FF2B5EF4-FFF2-40B4-BE49-F238E27FC236}">
                <a16:creationId xmlns:a16="http://schemas.microsoft.com/office/drawing/2014/main" id="{57E026DC-2C82-41BE-A855-6F295FA7DE84}"/>
              </a:ext>
            </a:extLst>
          </p:cNvPr>
          <p:cNvSpPr/>
          <p:nvPr/>
        </p:nvSpPr>
        <p:spPr>
          <a:xfrm>
            <a:off x="631256" y="1615110"/>
            <a:ext cx="3276000" cy="76200"/>
          </a:xfrm>
          <a:prstGeom prst="roundRect">
            <a:avLst/>
          </a:prstGeom>
          <a:solidFill>
            <a:srgbClr val="C033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1" name="stripSolution">
            <a:extLst>
              <a:ext uri="{FF2B5EF4-FFF2-40B4-BE49-F238E27FC236}">
                <a16:creationId xmlns:a16="http://schemas.microsoft.com/office/drawing/2014/main" id="{E7763DC2-B2D6-494D-8A22-27D64C11BFD7}"/>
              </a:ext>
            </a:extLst>
          </p:cNvPr>
          <p:cNvSpPr/>
          <p:nvPr/>
        </p:nvSpPr>
        <p:spPr>
          <a:xfrm>
            <a:off x="4504756" y="1615110"/>
            <a:ext cx="3276000" cy="76200"/>
          </a:xfrm>
          <a:prstGeom prst="roundRect">
            <a:avLst/>
          </a:prstGeom>
          <a:solidFill>
            <a:srgbClr val="0070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3" name="MetricsCard">
            <a:extLst>
              <a:ext uri="{FF2B5EF4-FFF2-40B4-BE49-F238E27FC236}">
                <a16:creationId xmlns:a16="http://schemas.microsoft.com/office/drawing/2014/main" id="{AC92AA2B-E1DA-4629-A139-D7C25A7FE753}"/>
              </a:ext>
            </a:extLst>
          </p:cNvPr>
          <p:cNvSpPr/>
          <p:nvPr/>
        </p:nvSpPr>
        <p:spPr>
          <a:xfrm>
            <a:off x="381000" y="4089400"/>
            <a:ext cx="11430000" cy="787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4E7E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4" name="DeliveryCard">
            <a:extLst>
              <a:ext uri="{FF2B5EF4-FFF2-40B4-BE49-F238E27FC236}">
                <a16:creationId xmlns:a16="http://schemas.microsoft.com/office/drawing/2014/main" id="{99328870-9F55-464D-A541-5D9AFE76CE1F}"/>
              </a:ext>
            </a:extLst>
          </p:cNvPr>
          <p:cNvSpPr/>
          <p:nvPr/>
        </p:nvSpPr>
        <p:spPr>
          <a:xfrm>
            <a:off x="381000" y="5003800"/>
            <a:ext cx="7493000" cy="1651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4E7E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5" name="BalanceCard">
            <a:extLst>
              <a:ext uri="{FF2B5EF4-FFF2-40B4-BE49-F238E27FC236}">
                <a16:creationId xmlns:a16="http://schemas.microsoft.com/office/drawing/2014/main" id="{FC58B91D-F286-49FA-8C16-869693B4BE01}"/>
              </a:ext>
            </a:extLst>
          </p:cNvPr>
          <p:cNvSpPr/>
          <p:nvPr/>
        </p:nvSpPr>
        <p:spPr>
          <a:xfrm>
            <a:off x="8077200" y="5003800"/>
            <a:ext cx="3733800" cy="1651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E4E7ED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pic>
        <p:nvPicPr>
          <p:cNvPr id="16" name="Graphic 16" descr="Business challeng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800" y="1818310"/>
            <a:ext cx="330200" cy="330200"/>
          </a:xfrm>
          <a:prstGeom prst="rect">
            <a:avLst/>
          </a:prstGeom>
        </p:spPr>
      </p:pic>
      <p:pic>
        <p:nvPicPr>
          <p:cNvPr id="17" name="Graphic 17" descr="AI-enabled solutio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2300" y="1818310"/>
            <a:ext cx="330200" cy="330200"/>
          </a:xfrm>
          <a:prstGeom prst="rect">
            <a:avLst/>
          </a:prstGeom>
        </p:spPr>
      </p:pic>
      <p:pic>
        <p:nvPicPr>
          <p:cNvPr id="19" name="Graphic 19" descr="Delivery profil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" y="5130800"/>
            <a:ext cx="254000" cy="254000"/>
          </a:xfrm>
          <a:prstGeom prst="rect">
            <a:avLst/>
          </a:prstGeom>
        </p:spPr>
      </p:pic>
      <p:pic>
        <p:nvPicPr>
          <p:cNvPr id="20" name="Graphic 20" descr="Balance indicato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5130800"/>
            <a:ext cx="254000" cy="254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335623B-45F4-4FB8-9238-2A11358F6896}"/>
              </a:ext>
            </a:extLst>
          </p:cNvPr>
          <p:cNvSpPr/>
          <p:nvPr/>
        </p:nvSpPr>
        <p:spPr>
          <a:xfrm>
            <a:off x="3238500" y="4206375"/>
            <a:ext cx="12700" cy="533400"/>
          </a:xfrm>
          <a:prstGeom prst="rect">
            <a:avLst/>
          </a:prstGeom>
          <a:solidFill>
            <a:srgbClr val="E4E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A965A6-954E-48D5-BFE4-35BE51447B90}"/>
              </a:ext>
            </a:extLst>
          </p:cNvPr>
          <p:cNvSpPr/>
          <p:nvPr/>
        </p:nvSpPr>
        <p:spPr>
          <a:xfrm>
            <a:off x="6096000" y="4206375"/>
            <a:ext cx="12700" cy="533400"/>
          </a:xfrm>
          <a:prstGeom prst="rect">
            <a:avLst/>
          </a:prstGeom>
          <a:solidFill>
            <a:srgbClr val="E4E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698055-269C-4632-A91E-ABA2E9BF18E1}"/>
              </a:ext>
            </a:extLst>
          </p:cNvPr>
          <p:cNvSpPr/>
          <p:nvPr/>
        </p:nvSpPr>
        <p:spPr>
          <a:xfrm>
            <a:off x="8953500" y="4206375"/>
            <a:ext cx="12700" cy="533400"/>
          </a:xfrm>
          <a:prstGeom prst="rect">
            <a:avLst/>
          </a:prstGeom>
          <a:solidFill>
            <a:srgbClr val="E4E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EEDD18BA-D0BC-4E51-9FD9-9671CE8595CA}"/>
              </a:ext>
            </a:extLst>
          </p:cNvPr>
          <p:cNvSpPr/>
          <p:nvPr/>
        </p:nvSpPr>
        <p:spPr>
          <a:xfrm>
            <a:off x="9499600" y="5410200"/>
            <a:ext cx="1371600" cy="88900"/>
          </a:xfrm>
          <a:prstGeom prst="roundRect">
            <a:avLst/>
          </a:prstGeom>
          <a:solidFill>
            <a:srgbClr val="E4E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9E23BD0E-3DB5-40B6-9E99-5E7767DC37D8}"/>
              </a:ext>
            </a:extLst>
          </p:cNvPr>
          <p:cNvSpPr/>
          <p:nvPr/>
        </p:nvSpPr>
        <p:spPr>
          <a:xfrm>
            <a:off x="9499600" y="5410200"/>
            <a:ext cx="900000" cy="88900"/>
          </a:xfrm>
          <a:prstGeom prst="roundRect">
            <a:avLst/>
          </a:prstGeom>
          <a:solidFill>
            <a:srgbClr val="0070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1341FF2-EA39-49DC-9970-6D9AF4B29C33}"/>
              </a:ext>
            </a:extLst>
          </p:cNvPr>
          <p:cNvSpPr/>
          <p:nvPr/>
        </p:nvSpPr>
        <p:spPr>
          <a:xfrm>
            <a:off x="9499600" y="5753100"/>
            <a:ext cx="1371600" cy="88900"/>
          </a:xfrm>
          <a:prstGeom prst="roundRect">
            <a:avLst/>
          </a:prstGeom>
          <a:solidFill>
            <a:srgbClr val="E4E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7DC7822A-9F42-4FD5-A20A-30B1FAD74A35}"/>
              </a:ext>
            </a:extLst>
          </p:cNvPr>
          <p:cNvSpPr/>
          <p:nvPr/>
        </p:nvSpPr>
        <p:spPr>
          <a:xfrm>
            <a:off x="9499600" y="5753100"/>
            <a:ext cx="960119" cy="88900"/>
          </a:xfrm>
          <a:prstGeom prst="roundRect">
            <a:avLst/>
          </a:prstGeom>
          <a:solidFill>
            <a:srgbClr val="2B0A3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605C14B-2492-493A-AFEB-A613D55AD6A9}"/>
              </a:ext>
            </a:extLst>
          </p:cNvPr>
          <p:cNvSpPr txBox="1"/>
          <p:nvPr/>
        </p:nvSpPr>
        <p:spPr>
          <a:xfrm>
            <a:off x="558800" y="127000"/>
            <a:ext cx="7112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200" b="1" i="0" u="none" strike="noStrike" kern="1200" cap="none" spc="0" normalizeH="0" baseline="0" noProof="0">
                <a:ln>
                  <a:noFill/>
                </a:ln>
                <a:solidFill>
                  <a:srgbClr val="2B0A3D"/>
                </a:solidFill>
                <a:effectLst/>
                <a:uLnTx/>
                <a:uFillTx/>
                <a:latin typeface="Ubuntu Medium"/>
                <a:ea typeface="+mn-ea"/>
                <a:cs typeface="+mn-cs"/>
              </a:rPr>
              <a:t>AI DATA GUARDIAN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644B3DC5-03DA-43A3-82CA-DF24CE96379E}"/>
              </a:ext>
            </a:extLst>
          </p:cNvPr>
          <p:cNvSpPr txBox="1"/>
          <p:nvPr/>
        </p:nvSpPr>
        <p:spPr>
          <a:xfrm>
            <a:off x="2552700" y="666750"/>
            <a:ext cx="7340600" cy="3937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2B0A3D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Transform enterprise data into trusted, governed and AI-ready assets that accelerate analytics, compliance, intelligent automation and agentic AI at scale.</a:t>
            </a:r>
            <a:endParaRPr kumimoji="0" lang="fr-FR" sz="1400" b="1" i="1" u="none" strike="noStrike" kern="1200" cap="none" spc="0" normalizeH="0" baseline="0" noProof="0">
              <a:ln>
                <a:noFill/>
              </a:ln>
              <a:solidFill>
                <a:srgbClr val="2B0A3D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C51F5817-77CF-4541-970C-E383D04E9E22}"/>
              </a:ext>
            </a:extLst>
          </p:cNvPr>
          <p:cNvSpPr txBox="1"/>
          <p:nvPr/>
        </p:nvSpPr>
        <p:spPr>
          <a:xfrm>
            <a:off x="1041400" y="1869110"/>
            <a:ext cx="28321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>
                <a:ln>
                  <a:noFill/>
                </a:ln>
                <a:solidFill>
                  <a:srgbClr val="C0334D"/>
                </a:solidFill>
                <a:effectLst/>
                <a:uLnTx/>
                <a:uFillTx/>
                <a:latin typeface="Ubuntu Medium"/>
                <a:ea typeface="+mn-ea"/>
                <a:cs typeface="+mn-cs"/>
              </a:rPr>
              <a:t>Business Challenge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A4B80E87-1A13-4BCA-B1F0-7F7DF254E588}"/>
              </a:ext>
            </a:extLst>
          </p:cNvPr>
          <p:cNvSpPr txBox="1"/>
          <p:nvPr/>
        </p:nvSpPr>
        <p:spPr>
          <a:xfrm>
            <a:off x="558800" y="2300910"/>
            <a:ext cx="34925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Rising cost of data governance (expert resources)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525966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Governance cannot scale with data </a:t>
            </a:r>
            <a:r>
              <a:rPr lang="en-US" sz="1050">
                <a:solidFill>
                  <a:srgbClr val="525966"/>
                </a:solidFill>
                <a:latin typeface="Ubuntu"/>
              </a:rPr>
              <a:t>g</a:t>
            </a: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rowth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525966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525966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Limited reuse of data </a:t>
            </a:r>
            <a:r>
              <a:rPr lang="en-US" sz="1050">
                <a:solidFill>
                  <a:srgbClr val="525966"/>
                </a:solidFill>
                <a:latin typeface="Ubuntu"/>
              </a:rPr>
              <a:t>e</a:t>
            </a: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xpertise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525966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525966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AI requires </a:t>
            </a:r>
            <a:r>
              <a:rPr lang="en-US" sz="1050">
                <a:solidFill>
                  <a:srgbClr val="525966"/>
                </a:solidFill>
                <a:latin typeface="Ubuntu"/>
              </a:rPr>
              <a:t>t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rusted and contextualized Data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DA884BC5-3986-4792-9C60-CAD0921550A3}"/>
              </a:ext>
            </a:extLst>
          </p:cNvPr>
          <p:cNvSpPr txBox="1"/>
          <p:nvPr/>
        </p:nvSpPr>
        <p:spPr>
          <a:xfrm>
            <a:off x="1076324" y="4292100"/>
            <a:ext cx="2016000" cy="36195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lvl="0" algn="ctr">
              <a:defRPr/>
            </a:pPr>
            <a:r>
              <a:rPr lang="en-US" sz="900" b="1" i="1">
                <a:solidFill>
                  <a:srgbClr val="525966"/>
                </a:solidFill>
              </a:rPr>
              <a:t>Increasing governance coverage without proportional resource growth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11C7E691-6DC9-4437-83B0-3E14AC6CB80F}"/>
              </a:ext>
            </a:extLst>
          </p:cNvPr>
          <p:cNvSpPr txBox="1"/>
          <p:nvPr/>
        </p:nvSpPr>
        <p:spPr>
          <a:xfrm>
            <a:off x="3775075" y="4303153"/>
            <a:ext cx="2016000" cy="33984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Reduction in manual governance and data quality effort</a:t>
            </a:r>
            <a:endParaRPr kumimoji="0" lang="fr-FR" sz="850" b="1" i="1" u="none" strike="noStrike" kern="1200" cap="none" spc="0" normalizeH="0" baseline="0" noProof="0">
              <a:ln>
                <a:noFill/>
              </a:ln>
              <a:solidFill>
                <a:srgbClr val="525966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FF1DE173-09FC-47A4-A64B-3906AEB1B443}"/>
              </a:ext>
            </a:extLst>
          </p:cNvPr>
          <p:cNvSpPr txBox="1"/>
          <p:nvPr/>
        </p:nvSpPr>
        <p:spPr>
          <a:xfrm>
            <a:off x="6510400" y="4307975"/>
            <a:ext cx="2016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lvl="0" algn="ctr">
              <a:defRPr/>
            </a:pPr>
            <a:r>
              <a:rPr lang="en-US" sz="900" b="1" i="1">
                <a:solidFill>
                  <a:srgbClr val="525966"/>
                </a:solidFill>
              </a:rPr>
              <a:t>Higher trust in business, regulatory and AI-driven decisions</a:t>
            </a:r>
            <a:endParaRPr kumimoji="0" lang="fr-FR" sz="850" b="1" i="1" u="none" strike="noStrike" kern="1200" cap="none" spc="0" normalizeH="0" baseline="0" noProof="0">
              <a:ln>
                <a:noFill/>
              </a:ln>
              <a:solidFill>
                <a:srgbClr val="525966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8554F62E-9558-4821-82AB-1F10222E357B}"/>
              </a:ext>
            </a:extLst>
          </p:cNvPr>
          <p:cNvSpPr txBox="1"/>
          <p:nvPr/>
        </p:nvSpPr>
        <p:spPr>
          <a:xfrm>
            <a:off x="9414000" y="4307975"/>
            <a:ext cx="2016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1" u="none" strike="noStrike" kern="1200" cap="none" spc="0" normalizeH="0" baseline="0" noProof="0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Faster deployment of enterprise AI and autonomous agents</a:t>
            </a:r>
            <a:endParaRPr kumimoji="0" lang="fr-FR" sz="850" b="1" i="1" u="none" strike="noStrike" kern="1200" cap="none" spc="0" normalizeH="0" baseline="0" noProof="0">
              <a:ln>
                <a:noFill/>
              </a:ln>
              <a:solidFill>
                <a:srgbClr val="525966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91E4B269-EF51-476F-9A7C-24E01B2A82E0}"/>
              </a:ext>
            </a:extLst>
          </p:cNvPr>
          <p:cNvSpPr txBox="1"/>
          <p:nvPr/>
        </p:nvSpPr>
        <p:spPr>
          <a:xfrm>
            <a:off x="889000" y="5080000"/>
            <a:ext cx="3302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50" b="1" i="0" u="none" strike="noStrike" kern="1200" cap="none" spc="0" normalizeH="0" baseline="0" noProof="0">
                <a:ln>
                  <a:noFill/>
                </a:ln>
                <a:solidFill>
                  <a:srgbClr val="2B0A3D"/>
                </a:solidFill>
                <a:effectLst/>
                <a:uLnTx/>
                <a:uFillTx/>
                <a:latin typeface="Ubuntu Medium"/>
                <a:ea typeface="+mn-ea"/>
                <a:cs typeface="+mn-cs"/>
              </a:rPr>
              <a:t>AWS Marketplace Benchmark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518D8424-66E2-4244-B39C-F2A437D56200}"/>
              </a:ext>
            </a:extLst>
          </p:cNvPr>
          <p:cNvSpPr txBox="1"/>
          <p:nvPr/>
        </p:nvSpPr>
        <p:spPr>
          <a:xfrm>
            <a:off x="8610600" y="5105400"/>
            <a:ext cx="292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>
                <a:ln>
                  <a:noFill/>
                </a:ln>
                <a:solidFill>
                  <a:srgbClr val="2B0A3D"/>
                </a:solidFill>
                <a:effectLst/>
                <a:uLnTx/>
                <a:uFillTx/>
                <a:latin typeface="Ubuntu Medium"/>
                <a:ea typeface="+mn-ea"/>
                <a:cs typeface="+mn-cs"/>
              </a:rPr>
              <a:t>Impact  ·  Feasibility  ·  Speed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5A85BF0E-4B75-4B50-B59A-E9FA2CC11BEF}"/>
              </a:ext>
            </a:extLst>
          </p:cNvPr>
          <p:cNvSpPr txBox="1"/>
          <p:nvPr/>
        </p:nvSpPr>
        <p:spPr>
          <a:xfrm>
            <a:off x="8229600" y="53467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Business Impact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3CBC1B86-480E-4802-8629-665AA78D21B6}"/>
              </a:ext>
            </a:extLst>
          </p:cNvPr>
          <p:cNvSpPr txBox="1"/>
          <p:nvPr/>
        </p:nvSpPr>
        <p:spPr>
          <a:xfrm>
            <a:off x="10871200" y="5346700"/>
            <a:ext cx="7874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0070AD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High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D94D939D-013E-4BD9-9190-6BCE1A4AC7A3}"/>
              </a:ext>
            </a:extLst>
          </p:cNvPr>
          <p:cNvSpPr txBox="1"/>
          <p:nvPr/>
        </p:nvSpPr>
        <p:spPr>
          <a:xfrm>
            <a:off x="8229600" y="56896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Feasibility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B2E5624-D3BF-4492-899B-3648832B6011}"/>
              </a:ext>
            </a:extLst>
          </p:cNvPr>
          <p:cNvSpPr txBox="1"/>
          <p:nvPr/>
        </p:nvSpPr>
        <p:spPr>
          <a:xfrm>
            <a:off x="10871200" y="5689600"/>
            <a:ext cx="7874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2B0A3D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Medium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C0EF39FD-73E3-4614-A183-5754443D12F5}"/>
              </a:ext>
            </a:extLst>
          </p:cNvPr>
          <p:cNvSpPr txBox="1"/>
          <p:nvPr/>
        </p:nvSpPr>
        <p:spPr>
          <a:xfrm>
            <a:off x="4914900" y="1869110"/>
            <a:ext cx="28321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>
                <a:ln>
                  <a:noFill/>
                </a:ln>
                <a:solidFill>
                  <a:srgbClr val="0070AD"/>
                </a:solidFill>
                <a:effectLst/>
                <a:uLnTx/>
                <a:uFillTx/>
                <a:latin typeface="Ubuntu Medium"/>
                <a:ea typeface="+mn-ea"/>
                <a:cs typeface="+mn-cs"/>
              </a:rPr>
              <a:t>AI-</a:t>
            </a:r>
            <a:r>
              <a:rPr kumimoji="0" lang="fr-FR" sz="1300" b="1" i="0" u="none" strike="noStrike" kern="1200" cap="none" spc="0" normalizeH="0" baseline="0" noProof="0" err="1">
                <a:ln>
                  <a:noFill/>
                </a:ln>
                <a:solidFill>
                  <a:srgbClr val="0070AD"/>
                </a:solidFill>
                <a:effectLst/>
                <a:uLnTx/>
                <a:uFillTx/>
                <a:latin typeface="Ubuntu Medium"/>
                <a:ea typeface="+mn-ea"/>
                <a:cs typeface="+mn-cs"/>
              </a:rPr>
              <a:t>Enabled</a:t>
            </a:r>
            <a:r>
              <a:rPr kumimoji="0" lang="fr-FR" sz="1300" b="1" i="0" u="none" strike="noStrike" kern="1200" cap="none" spc="0" normalizeH="0" baseline="0" noProof="0">
                <a:ln>
                  <a:noFill/>
                </a:ln>
                <a:solidFill>
                  <a:srgbClr val="0070AD"/>
                </a:solidFill>
                <a:effectLst/>
                <a:uLnTx/>
                <a:uFillTx/>
                <a:latin typeface="Ubuntu Medium"/>
                <a:ea typeface="+mn-ea"/>
                <a:cs typeface="+mn-cs"/>
              </a:rPr>
              <a:t> Solution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9ABB3C54-EA64-4725-815D-28727A2DE5EE}"/>
              </a:ext>
            </a:extLst>
          </p:cNvPr>
          <p:cNvSpPr txBox="1"/>
          <p:nvPr/>
        </p:nvSpPr>
        <p:spPr>
          <a:xfrm>
            <a:off x="4305300" y="2262810"/>
            <a:ext cx="36195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Transform Data Office expertise into a reusable AI capability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Automate governance and quality controls at enterprise scale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Generate prioritized remediation plans and recommendations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Continuously learn and improve from expert feedback</a:t>
            </a:r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srgbClr val="525966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C11DE924-4A1B-00F9-1253-F1C4286A467F}"/>
              </a:ext>
            </a:extLst>
          </p:cNvPr>
          <p:cNvSpPr txBox="1"/>
          <p:nvPr/>
        </p:nvSpPr>
        <p:spPr>
          <a:xfrm>
            <a:off x="555624" y="4273020"/>
            <a:ext cx="5143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🚀</a:t>
            </a:r>
            <a:endParaRPr lang="fr-FR" sz="400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58E69FD4-E526-89E7-5BCF-519148647967}"/>
              </a:ext>
            </a:extLst>
          </p:cNvPr>
          <p:cNvSpPr txBox="1"/>
          <p:nvPr/>
        </p:nvSpPr>
        <p:spPr>
          <a:xfrm>
            <a:off x="3219450" y="4273020"/>
            <a:ext cx="590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💰</a:t>
            </a:r>
            <a:endParaRPr lang="fr-FR" sz="4000"/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92FEFCCA-C9AE-8B39-1A86-8FD34B4F0124}"/>
              </a:ext>
            </a:extLst>
          </p:cNvPr>
          <p:cNvSpPr txBox="1"/>
          <p:nvPr/>
        </p:nvSpPr>
        <p:spPr>
          <a:xfrm>
            <a:off x="6178550" y="4319187"/>
            <a:ext cx="30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✅</a:t>
            </a:r>
            <a:endParaRPr lang="fr-FR" sz="2800"/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429BE3D1-DDE2-2281-95E8-DE1CF2972558}"/>
              </a:ext>
            </a:extLst>
          </p:cNvPr>
          <p:cNvSpPr txBox="1"/>
          <p:nvPr/>
        </p:nvSpPr>
        <p:spPr>
          <a:xfrm>
            <a:off x="8953500" y="4288409"/>
            <a:ext cx="438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🤖</a:t>
            </a:r>
            <a:endParaRPr lang="fr-FR" sz="3600"/>
          </a:p>
        </p:txBody>
      </p:sp>
      <p:graphicFrame>
        <p:nvGraphicFramePr>
          <p:cNvPr id="125" name="Tableau 124">
            <a:extLst>
              <a:ext uri="{FF2B5EF4-FFF2-40B4-BE49-F238E27FC236}">
                <a16:creationId xmlns:a16="http://schemas.microsoft.com/office/drawing/2014/main" id="{DF87AE5F-131D-99D8-D0FD-81FE7B6725F2}"/>
              </a:ext>
            </a:extLst>
          </p:cNvPr>
          <p:cNvGraphicFramePr>
            <a:graphicFrameLocks noGrp="1"/>
          </p:cNvGraphicFramePr>
          <p:nvPr/>
        </p:nvGraphicFramePr>
        <p:xfrm>
          <a:off x="723900" y="5634380"/>
          <a:ext cx="3781673" cy="72004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2600573">
                  <a:extLst>
                    <a:ext uri="{9D8B030D-6E8A-4147-A177-3AD203B41FA5}">
                      <a16:colId xmlns:a16="http://schemas.microsoft.com/office/drawing/2014/main" val="664500655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305009255"/>
                    </a:ext>
                  </a:extLst>
                </a:gridCol>
              </a:tblGrid>
              <a:tr h="934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u="none">
                          <a:solidFill>
                            <a:schemeClr val="bg1"/>
                          </a:solidFill>
                        </a:rPr>
                        <a:t>Solution</a:t>
                      </a:r>
                      <a:endParaRPr lang="fr-FR" sz="1000" b="1" i="1" u="non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27611" marR="27611" marT="13805" marB="13805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u="none">
                          <a:solidFill>
                            <a:schemeClr val="bg1"/>
                          </a:solidFill>
                        </a:rPr>
                        <a:t>Similarity</a:t>
                      </a:r>
                      <a:endParaRPr lang="fr-FR" sz="1000" b="1" i="1" u="non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27611" marR="27611" marT="13805" marB="13805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580955"/>
                  </a:ext>
                </a:extLst>
              </a:tr>
              <a:tr h="153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u="none">
                          <a:solidFill>
                            <a:schemeClr val="bg2">
                              <a:lumMod val="25000"/>
                            </a:schemeClr>
                          </a:solidFill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DQ Platform (DQC)</a:t>
                      </a:r>
                      <a:endParaRPr lang="fr-FR" sz="1000" u="none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</a:endParaRPr>
                    </a:p>
                  </a:txBody>
                  <a:tcPr marL="27611" marR="27611" marT="13805" marB="138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u="none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85%</a:t>
                      </a:r>
                      <a:endParaRPr lang="fr-FR" sz="1000" u="none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</a:endParaRPr>
                    </a:p>
                  </a:txBody>
                  <a:tcPr marL="27611" marR="27611" marT="13805" marB="13805" anchor="ctr"/>
                </a:tc>
                <a:extLst>
                  <a:ext uri="{0D108BD9-81ED-4DB2-BD59-A6C34878D82A}">
                    <a16:rowId xmlns:a16="http://schemas.microsoft.com/office/drawing/2014/main" val="2117457114"/>
                  </a:ext>
                </a:extLst>
              </a:tr>
              <a:tr h="176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u="none">
                          <a:solidFill>
                            <a:schemeClr val="bg2">
                              <a:lumMod val="25000"/>
                            </a:schemeClr>
                          </a:solidFill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Monte Carlo Data + AI </a:t>
                      </a:r>
                      <a:r>
                        <a:rPr lang="fr-FR" sz="1000" b="1" u="none" err="1">
                          <a:solidFill>
                            <a:schemeClr val="bg2">
                              <a:lumMod val="25000"/>
                            </a:schemeClr>
                          </a:solidFill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Observability</a:t>
                      </a:r>
                      <a:endParaRPr lang="fr-FR" sz="1000" u="none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</a:endParaRPr>
                    </a:p>
                  </a:txBody>
                  <a:tcPr marL="27611" marR="27611" marT="13805" marB="138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u="none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85%</a:t>
                      </a:r>
                      <a:endParaRPr lang="fr-FR" sz="1000" u="none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</a:endParaRPr>
                    </a:p>
                  </a:txBody>
                  <a:tcPr marL="27611" marR="27611" marT="13805" marB="13805" anchor="ctr"/>
                </a:tc>
                <a:extLst>
                  <a:ext uri="{0D108BD9-81ED-4DB2-BD59-A6C34878D82A}">
                    <a16:rowId xmlns:a16="http://schemas.microsoft.com/office/drawing/2014/main" val="2202488955"/>
                  </a:ext>
                </a:extLst>
              </a:tr>
              <a:tr h="142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u="none">
                          <a:solidFill>
                            <a:schemeClr val="bg2">
                              <a:lumMod val="25000"/>
                            </a:schemeClr>
                          </a:solidFill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Collibra Data Intelligence Platform</a:t>
                      </a:r>
                      <a:endParaRPr lang="fr-FR" sz="1000" u="none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</a:endParaRPr>
                    </a:p>
                  </a:txBody>
                  <a:tcPr marL="27611" marR="27611" marT="13805" marB="138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u="none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75%</a:t>
                      </a:r>
                      <a:endParaRPr lang="fr-FR" sz="1000" u="none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</a:endParaRPr>
                    </a:p>
                  </a:txBody>
                  <a:tcPr marL="27611" marR="27611" marT="13805" marB="13805" anchor="ctr"/>
                </a:tc>
                <a:extLst>
                  <a:ext uri="{0D108BD9-81ED-4DB2-BD59-A6C34878D82A}">
                    <a16:rowId xmlns:a16="http://schemas.microsoft.com/office/drawing/2014/main" val="4100399055"/>
                  </a:ext>
                </a:extLst>
              </a:tr>
            </a:tbl>
          </a:graphicData>
        </a:graphic>
      </p:graphicFrame>
      <p:sp>
        <p:nvSpPr>
          <p:cNvPr id="129" name="ZoneTexte 128">
            <a:extLst>
              <a:ext uri="{FF2B5EF4-FFF2-40B4-BE49-F238E27FC236}">
                <a16:creationId xmlns:a16="http://schemas.microsoft.com/office/drawing/2014/main" id="{92384742-963D-33DD-1577-38BEB723CA83}"/>
              </a:ext>
            </a:extLst>
          </p:cNvPr>
          <p:cNvSpPr txBox="1"/>
          <p:nvPr/>
        </p:nvSpPr>
        <p:spPr>
          <a:xfrm>
            <a:off x="5039360" y="5143500"/>
            <a:ext cx="2504440" cy="1397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txBody>
          <a:bodyPr vertOverflow="overflow" vert="horz" wrap="square" rtlCol="0" anchor="t" anchorCtr="0">
            <a:noAutofit/>
          </a:bodyPr>
          <a:lstStyle/>
          <a:p>
            <a:pPr marL="180975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050" b="1" u="none" strike="noStrike" kern="1200" cap="small" spc="0" normalizeH="0" baseline="0" noProof="0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Why AI DATA GUARDIAN: </a:t>
            </a:r>
          </a:p>
          <a:p>
            <a:pPr marL="180975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050" b="1" cap="small">
              <a:solidFill>
                <a:srgbClr val="525966"/>
              </a:solidFill>
              <a:latin typeface="Ubuntu"/>
            </a:endParaRPr>
          </a:p>
          <a:p>
            <a:pPr marL="180975" lvl="1" indent="-171450">
              <a:buFont typeface="Arial" panose="020B0604020202020204" pitchFamily="34" charset="0"/>
              <a:buChar char="•"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25966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Build for Purpose, Not Generic by Design</a:t>
            </a:r>
          </a:p>
          <a:p>
            <a:pPr marL="180975" lvl="1" indent="-171450">
              <a:buFont typeface="Arial" panose="020B0604020202020204" pitchFamily="34" charset="0"/>
              <a:buChar char="•"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525966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180975" lvl="1" indent="-171450">
              <a:buFont typeface="Arial" panose="020B0604020202020204" pitchFamily="34" charset="0"/>
              <a:buChar char="•"/>
              <a:defRPr/>
            </a:pPr>
            <a:r>
              <a:rPr lang="en-US" sz="1050">
                <a:solidFill>
                  <a:srgbClr val="525966"/>
                </a:solidFill>
                <a:latin typeface="Ubuntu"/>
              </a:rPr>
              <a:t>Lower Total Cost of Ownership</a:t>
            </a:r>
          </a:p>
          <a:p>
            <a:pPr marL="180975" lvl="1" indent="-171450">
              <a:buFont typeface="Arial" panose="020B0604020202020204" pitchFamily="34" charset="0"/>
              <a:buChar char="•"/>
              <a:defRPr/>
            </a:pPr>
            <a:endParaRPr lang="en-US" sz="1050">
              <a:solidFill>
                <a:srgbClr val="525966"/>
              </a:solidFill>
              <a:latin typeface="Ubuntu"/>
            </a:endParaRPr>
          </a:p>
          <a:p>
            <a:pPr marL="180975" lvl="1" indent="-171450">
              <a:buFont typeface="Arial" panose="020B0604020202020204" pitchFamily="34" charset="0"/>
              <a:buChar char="•"/>
              <a:defRPr/>
            </a:pPr>
            <a:r>
              <a:rPr lang="en-US" sz="1050">
                <a:solidFill>
                  <a:srgbClr val="525966"/>
                </a:solidFill>
                <a:latin typeface="Ubuntu"/>
              </a:rPr>
              <a:t>Industry-Aware Intelligence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227FC43B-C0AF-F0AE-5CF7-50A31D805C1A}"/>
              </a:ext>
            </a:extLst>
          </p:cNvPr>
          <p:cNvSpPr txBox="1"/>
          <p:nvPr/>
        </p:nvSpPr>
        <p:spPr>
          <a:xfrm>
            <a:off x="8229600" y="59944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Potential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Client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DADA36C-BEED-E3DD-0C8B-BF638A16D432}"/>
              </a:ext>
            </a:extLst>
          </p:cNvPr>
          <p:cNvSpPr/>
          <p:nvPr/>
        </p:nvSpPr>
        <p:spPr>
          <a:xfrm>
            <a:off x="10045700" y="0"/>
            <a:ext cx="2146300" cy="419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6390227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ffa499d-8334-4b45-bbba-5ec17299202b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Grand écran</PresentationFormat>
  <Paragraphs>46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Ubuntu</vt:lpstr>
      <vt:lpstr>Ubuntu Medium</vt:lpstr>
      <vt:lpstr>Wingdings</vt:lpstr>
      <vt:lpstr>Thème Office</vt:lpstr>
      <vt:lpstr>Présentation PowerPoint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JOLIVALT, Rémi</dc:creator>
  <cp:lastModifiedBy>JOLIVALT, Rémi</cp:lastModifiedBy>
  <cp:revision>1</cp:revision>
  <dcterms:created xsi:type="dcterms:W3CDTF">2026-09-15T08:23:35Z</dcterms:created>
  <dcterms:modified xsi:type="dcterms:W3CDTF">2026-09-15T08:24:24Z</dcterms:modified>
</cp:coreProperties>
</file>